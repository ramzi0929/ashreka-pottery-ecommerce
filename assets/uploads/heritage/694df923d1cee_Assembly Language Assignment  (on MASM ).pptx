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71" r:id="rId2"/>
    <p:sldId id="256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640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539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712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1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127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607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126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44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575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042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001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715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4715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5752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7083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2750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491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1.jpe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66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4322C-32FE-FD86-B4C3-DA9FFA831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Assembly Language Programming Group Presentation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5847F-3D63-15F9-7166-0F972A11D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2000" b="1" dirty="0"/>
              <a:t>ADVANCED</a:t>
            </a:r>
            <a:r>
              <a:rPr lang="en-GB" dirty="0"/>
              <a:t> </a:t>
            </a:r>
            <a:r>
              <a:rPr lang="en-GB" sz="2000" b="1" dirty="0"/>
              <a:t>MASM</a:t>
            </a:r>
            <a:r>
              <a:rPr lang="en-GB" dirty="0"/>
              <a:t> </a:t>
            </a:r>
            <a:r>
              <a:rPr lang="en-GB" sz="2000" b="1" dirty="0"/>
              <a:t>PROCEDURE</a:t>
            </a:r>
            <a:r>
              <a:rPr lang="en-GB" dirty="0"/>
              <a:t> </a:t>
            </a:r>
            <a:r>
              <a:rPr lang="en-GB" sz="2000" b="1" dirty="0"/>
              <a:t>DIRECTIVES</a:t>
            </a:r>
          </a:p>
          <a:p>
            <a:endParaRPr lang="en-GB" dirty="0"/>
          </a:p>
          <a:p>
            <a:r>
              <a:rPr lang="en-GB" dirty="0"/>
              <a:t>Group Members</a:t>
            </a:r>
          </a:p>
          <a:p>
            <a:pPr marL="0" indent="0">
              <a:buNone/>
            </a:pPr>
            <a:r>
              <a:rPr lang="en-GB" dirty="0"/>
              <a:t>Bilen </a:t>
            </a:r>
            <a:r>
              <a:rPr lang="en-GB" dirty="0" err="1"/>
              <a:t>Tewodros</a:t>
            </a:r>
            <a:r>
              <a:rPr lang="en-GB" dirty="0"/>
              <a:t>…..………...….RCS/029/22  </a:t>
            </a:r>
          </a:p>
          <a:p>
            <a:pPr marL="0" indent="0">
              <a:buNone/>
            </a:pPr>
            <a:r>
              <a:rPr lang="en-GB" dirty="0" err="1"/>
              <a:t>Melaku</a:t>
            </a:r>
            <a:r>
              <a:rPr lang="en-GB" dirty="0"/>
              <a:t> </a:t>
            </a:r>
            <a:r>
              <a:rPr lang="en-GB" dirty="0" err="1"/>
              <a:t>Melesa</a:t>
            </a:r>
            <a:r>
              <a:rPr lang="en-GB" dirty="0"/>
              <a:t>………………RCS/089/22</a:t>
            </a:r>
          </a:p>
          <a:p>
            <a:pPr marL="0" indent="0">
              <a:buNone/>
            </a:pPr>
            <a:r>
              <a:rPr lang="en-GB" dirty="0" err="1"/>
              <a:t>Nahom</a:t>
            </a:r>
            <a:r>
              <a:rPr lang="en-GB" dirty="0"/>
              <a:t> </a:t>
            </a:r>
            <a:r>
              <a:rPr lang="en-GB" dirty="0" err="1"/>
              <a:t>Befekadu</a:t>
            </a:r>
            <a:r>
              <a:rPr lang="en-GB" dirty="0"/>
              <a:t>……………RCS/103/22 </a:t>
            </a:r>
          </a:p>
          <a:p>
            <a:pPr marL="0" indent="0">
              <a:buNone/>
            </a:pPr>
            <a:r>
              <a:rPr lang="en-GB" dirty="0" err="1"/>
              <a:t>Natnael</a:t>
            </a:r>
            <a:r>
              <a:rPr lang="en-GB" dirty="0"/>
              <a:t> </a:t>
            </a:r>
            <a:r>
              <a:rPr lang="en-GB" dirty="0" err="1"/>
              <a:t>Abyot</a:t>
            </a:r>
            <a:r>
              <a:rPr lang="en-GB" dirty="0"/>
              <a:t>……………….RCS/106/22 </a:t>
            </a:r>
          </a:p>
          <a:p>
            <a:pPr marL="0" indent="0">
              <a:buNone/>
            </a:pPr>
            <a:r>
              <a:rPr lang="en-GB" dirty="0" err="1"/>
              <a:t>Ramzi</a:t>
            </a:r>
            <a:r>
              <a:rPr lang="en-GB" dirty="0"/>
              <a:t> Mohammed………….RCS/113/22 </a:t>
            </a:r>
          </a:p>
          <a:p>
            <a:pPr marL="0" indent="0">
              <a:buNone/>
            </a:pPr>
            <a:r>
              <a:rPr lang="en-GB" dirty="0" err="1"/>
              <a:t>Redieat</a:t>
            </a:r>
            <a:r>
              <a:rPr lang="en-GB" dirty="0"/>
              <a:t> </a:t>
            </a:r>
            <a:r>
              <a:rPr lang="en-GB" dirty="0" err="1"/>
              <a:t>Feleke</a:t>
            </a:r>
            <a:r>
              <a:rPr lang="en-GB" dirty="0"/>
              <a:t>…..………...…..RCS/115/22 </a:t>
            </a:r>
          </a:p>
          <a:p>
            <a:pPr marL="0" indent="0">
              <a:buNone/>
            </a:pPr>
            <a:r>
              <a:rPr lang="en-GB" dirty="0" err="1"/>
              <a:t>Harmod</a:t>
            </a:r>
            <a:r>
              <a:rPr lang="en-GB" dirty="0"/>
              <a:t> </a:t>
            </a:r>
            <a:r>
              <a:rPr lang="en-GB" dirty="0" err="1"/>
              <a:t>Sahle</a:t>
            </a:r>
            <a:r>
              <a:rPr lang="en-GB" dirty="0"/>
              <a:t>...........................RCS /1429/23</a:t>
            </a:r>
          </a:p>
        </p:txBody>
      </p:sp>
    </p:spTree>
    <p:extLst>
      <p:ext uri="{BB962C8B-B14F-4D97-AF65-F5344CB8AC3E}">
        <p14:creationId xmlns:p14="http://schemas.microsoft.com/office/powerpoint/2010/main" val="1898691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MASM Procedure Directives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INVOKE, PROC, PROTO, and ADDR are advanced MASM directives.</a:t>
            </a:r>
          </a:p>
          <a:p>
            <a:r>
              <a:t>They are available in 32-bit mode only.</a:t>
            </a:r>
          </a:p>
          <a:p>
            <a:r>
              <a:t>They simplify procedure definition and invocation.</a:t>
            </a:r>
          </a:p>
          <a:p>
            <a:r>
              <a:t>They provide features similar to high-level languages.</a:t>
            </a:r>
          </a:p>
          <a:p>
            <a:r>
              <a:t>Their use can hide low-level stack behavior.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7E07FD-2445-2CB0-07A5-841AFF86299A}"/>
              </a:ext>
            </a:extLst>
          </p:cNvPr>
          <p:cNvSpPr txBox="1"/>
          <p:nvPr/>
        </p:nvSpPr>
        <p:spPr>
          <a:xfrm>
            <a:off x="4470400" y="1801436"/>
            <a:ext cx="3251200" cy="3251200"/>
          </a:xfrm>
          <a:prstGeom prst="rect">
            <a:avLst/>
          </a:prstGeom>
          <a:noFill/>
        </p:spPr>
        <p:txBody>
          <a:bodyPr wrap="square" lIns="162560" tIns="81280" rIns="162560" bIns="81280" rtlCol="0">
            <a:spAutoFit/>
          </a:bodyPr>
          <a:lstStyle/>
          <a:p>
            <a:pPr algn="l"/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for Using These Directives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stack handling is error-prone.</a:t>
            </a:r>
          </a:p>
          <a:p>
            <a:r>
              <a:t>Multiple PUSH instructions reduce readability.</a:t>
            </a:r>
          </a:p>
          <a:p>
            <a:r>
              <a:t>Advanced directives improve code clarity.</a:t>
            </a:r>
          </a:p>
          <a:p>
            <a:r>
              <a:t>They are especially useful in large programs.</a:t>
            </a:r>
          </a:p>
          <a:p>
            <a:r>
              <a:t>Cross-module calls benefit from validation.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INVOKE Directive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INVOKE directive, only available in 32-bit mode, pushes arguments on the stack (in the order specified by the MODEL directive’s language </a:t>
            </a:r>
            <a:r>
              <a:rPr lang="en-GB" dirty="0" err="1"/>
              <a:t>specifier</a:t>
            </a:r>
            <a:r>
              <a:rPr lang="en-GB" dirty="0"/>
              <a:t>) and calls a procedure</a:t>
            </a:r>
            <a:r>
              <a:rPr dirty="0"/>
              <a:t>.</a:t>
            </a:r>
            <a:endParaRPr lang="en-GB" dirty="0"/>
          </a:p>
          <a:p>
            <a:r>
              <a:rPr lang="en-GB" dirty="0"/>
              <a:t>INVOKE is a convenient replacement for the CALL instruction because it lets you pass multiple arguments using a single line of code. </a:t>
            </a:r>
            <a:endParaRPr dirty="0"/>
          </a:p>
          <a:p>
            <a:r>
              <a:rPr dirty="0"/>
              <a:t>Automatically pushes arguments onto the stack.</a:t>
            </a:r>
          </a:p>
          <a:p>
            <a:r>
              <a:rPr dirty="0"/>
              <a:t>Argument order depends on the calling convention.</a:t>
            </a:r>
          </a:p>
          <a:p>
            <a:r>
              <a:rPr dirty="0"/>
              <a:t>Supports passing many arguments.</a:t>
            </a:r>
          </a:p>
          <a:p>
            <a:r>
              <a:rPr dirty="0"/>
              <a:t>Reduces repetitive assembly code.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INVOKE Syntax and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General syntax: </a:t>
            </a:r>
            <a:r>
              <a:rPr lang="en-GB" dirty="0"/>
              <a:t>INVOKE </a:t>
            </a:r>
            <a:r>
              <a:rPr lang="en-GB" dirty="0" err="1"/>
              <a:t>procedureName</a:t>
            </a:r>
            <a:r>
              <a:rPr lang="en-GB" dirty="0"/>
              <a:t> [, </a:t>
            </a:r>
            <a:r>
              <a:rPr lang="en-GB" dirty="0" err="1"/>
              <a:t>argumentList</a:t>
            </a:r>
            <a:r>
              <a:rPr lang="en-GB" dirty="0"/>
              <a:t>]</a:t>
            </a:r>
            <a:r>
              <a:rPr dirty="0"/>
              <a:t>.</a:t>
            </a:r>
          </a:p>
          <a:p>
            <a:r>
              <a:rPr lang="en-GB" dirty="0" err="1"/>
              <a:t>ArgumentList</a:t>
            </a:r>
            <a:r>
              <a:rPr lang="en-GB" dirty="0"/>
              <a:t> is an optional comma-delimited list of arguments passed to the procedure</a:t>
            </a:r>
            <a:r>
              <a:rPr dirty="0"/>
              <a:t>.</a:t>
            </a:r>
          </a:p>
          <a:p>
            <a:r>
              <a:rPr lang="en-GB" dirty="0"/>
              <a:t>INVOKE permits almost any number of arguments, and individual arguments can appear on separate source code lines. </a:t>
            </a:r>
          </a:p>
          <a:p>
            <a:endParaRPr dirty="0"/>
          </a:p>
          <a:p>
            <a:pPr marL="0" indent="0">
              <a:buNone/>
            </a:pP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CF78B0-88AC-F05F-FFDC-628048766D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324" y="4475977"/>
            <a:ext cx="4900360" cy="22176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INVOKE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method uses PUSH instructions.</a:t>
            </a:r>
          </a:p>
          <a:p>
            <a:r>
              <a:t>Each argument must be pushed manually.</a:t>
            </a:r>
          </a:p>
          <a:p>
            <a:r>
              <a:t>CALL instruction transfers control.</a:t>
            </a:r>
          </a:p>
          <a:p>
            <a:r>
              <a:t>INVOKE combines all steps into one line.</a:t>
            </a:r>
          </a:p>
          <a:p>
            <a:r>
              <a:t>Example: INVOKE DumpArray, OFFSET array, LENGTHOF array, TYPE array.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E387C0-3F2B-8A27-487A-92FFAD295B6B}"/>
              </a:ext>
            </a:extLst>
          </p:cNvPr>
          <p:cNvSpPr txBox="1"/>
          <p:nvPr/>
        </p:nvSpPr>
        <p:spPr>
          <a:xfrm>
            <a:off x="1258072" y="4629711"/>
            <a:ext cx="562764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1" i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EAX, EDX Overwritten</a:t>
            </a:r>
            <a:r>
              <a:rPr lang="en-GB" sz="1800" i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If</a:t>
            </a:r>
            <a:r>
              <a:rPr lang="en-GB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GB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pass arguments smaller than 32 bits to a procedure, INVOKE frequently causes the assembler to overwrite EAX and EDX when it widens the arguments before pushing them on the stack. This  </a:t>
            </a:r>
            <a:r>
              <a:rPr lang="en-GB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GB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can be avoided by always passing 32-bit arguments to INVOKE, or we can save and restore EAX and EDX before and after the procedure call.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ADDR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ADDR operator, also available in 32-bit mode, can be used to pass a pointer argument when calling a procedure using INVOKE. </a:t>
            </a:r>
            <a:r>
              <a:rPr dirty="0"/>
              <a:t>It simplifies pointer argument passing.</a:t>
            </a:r>
          </a:p>
          <a:p>
            <a:r>
              <a:rPr dirty="0"/>
              <a:t>ADDR can only be used with INVOKE.</a:t>
            </a:r>
          </a:p>
          <a:p>
            <a:r>
              <a:rPr dirty="0"/>
              <a:t> </a:t>
            </a:r>
            <a:r>
              <a:rPr lang="en-GB" dirty="0"/>
              <a:t>The argument passed to ADDR must be an assembly time constant. The following is an error:</a:t>
            </a:r>
          </a:p>
          <a:p>
            <a:pPr marL="0" indent="0">
              <a:buNone/>
            </a:pPr>
            <a:r>
              <a:rPr lang="en-GB" dirty="0"/>
              <a:t>    INVOKE </a:t>
            </a:r>
            <a:r>
              <a:rPr lang="en-GB" dirty="0" err="1"/>
              <a:t>mySub</a:t>
            </a:r>
            <a:r>
              <a:rPr lang="en-GB" dirty="0"/>
              <a:t>, ADDR [ebp+12]; error</a:t>
            </a:r>
            <a:endParaRPr dirty="0"/>
          </a:p>
          <a:p>
            <a:r>
              <a:rPr dirty="0"/>
              <a:t>Invalid with runtime expressions.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Used when procedures expect pointer parameters.</a:t>
            </a:r>
            <a:endParaRPr lang="en-GB" dirty="0"/>
          </a:p>
          <a:p>
            <a:r>
              <a:rPr dirty="0"/>
              <a:t>Example: INVOKE </a:t>
            </a:r>
            <a:r>
              <a:rPr dirty="0" err="1"/>
              <a:t>FillArray</a:t>
            </a:r>
            <a:r>
              <a:rPr dirty="0"/>
              <a:t>, ADDR </a:t>
            </a:r>
            <a:r>
              <a:rPr dirty="0" err="1"/>
              <a:t>myArray</a:t>
            </a:r>
            <a:r>
              <a:rPr dirty="0"/>
              <a:t>.</a:t>
            </a:r>
          </a:p>
          <a:p>
            <a:r>
              <a:rPr dirty="0"/>
              <a:t>Assembler generates PUSH OFFSET </a:t>
            </a:r>
            <a:r>
              <a:rPr dirty="0" err="1"/>
              <a:t>myArray</a:t>
            </a:r>
            <a:r>
              <a:rPr dirty="0"/>
              <a:t>.</a:t>
            </a:r>
          </a:p>
          <a:p>
            <a:r>
              <a:rPr dirty="0"/>
              <a:t>Improves readability over OFFSET usage.</a:t>
            </a:r>
          </a:p>
          <a:p>
            <a:r>
              <a:rPr dirty="0"/>
              <a:t>Not allowed in MOV or other instructions.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PROC Directive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PROC defines a procedure block.</a:t>
            </a:r>
            <a:endParaRPr lang="en-GB" dirty="0"/>
          </a:p>
          <a:p>
            <a:r>
              <a:rPr lang="en-GB" dirty="0"/>
              <a:t>In 32-bit mode, the PROC directive has the following basic syntax:</a:t>
            </a:r>
          </a:p>
          <a:p>
            <a:pPr marL="0" indent="0">
              <a:buNone/>
            </a:pPr>
            <a:r>
              <a:rPr lang="en-GB" dirty="0"/>
              <a:t>     label PROC [attributes] [USES </a:t>
            </a:r>
            <a:r>
              <a:rPr lang="en-GB" dirty="0" err="1"/>
              <a:t>reglist</a:t>
            </a:r>
            <a:r>
              <a:rPr lang="en-GB" dirty="0"/>
              <a:t>], </a:t>
            </a:r>
            <a:r>
              <a:rPr lang="en-GB" dirty="0" err="1"/>
              <a:t>parameter_list</a:t>
            </a:r>
            <a:endParaRPr lang="en-GB" dirty="0"/>
          </a:p>
          <a:p>
            <a:r>
              <a:rPr lang="en-GB" dirty="0"/>
              <a:t>Attributes refers to any of the following: </a:t>
            </a:r>
          </a:p>
          <a:p>
            <a:pPr marL="0" indent="0">
              <a:buNone/>
            </a:pPr>
            <a:r>
              <a:rPr lang="en-GB" dirty="0"/>
              <a:t>     [distance] [</a:t>
            </a:r>
            <a:r>
              <a:rPr lang="en-GB" dirty="0" err="1"/>
              <a:t>langtype</a:t>
            </a:r>
            <a:r>
              <a:rPr lang="en-GB" dirty="0"/>
              <a:t>] [visibility] [</a:t>
            </a:r>
            <a:r>
              <a:rPr lang="en-GB" dirty="0" err="1"/>
              <a:t>prologuearg</a:t>
            </a:r>
            <a:r>
              <a:rPr lang="en-GB" dirty="0"/>
              <a:t>]</a:t>
            </a:r>
          </a:p>
          <a:p>
            <a:r>
              <a:rPr dirty="0"/>
              <a:t>It declares parameters and attributes.</a:t>
            </a:r>
            <a:endParaRPr lang="en-GB" dirty="0"/>
          </a:p>
          <a:p>
            <a:r>
              <a:rPr lang="en-GB" dirty="0"/>
              <a:t>Automatically generates prologue code.</a:t>
            </a:r>
          </a:p>
          <a:p>
            <a:r>
              <a:rPr dirty="0"/>
              <a:t>EBP is used to access parameters.</a:t>
            </a:r>
          </a:p>
          <a:p>
            <a:r>
              <a:rPr dirty="0"/>
              <a:t>Simplifies stack frame creation.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 Parameter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8547" y="3583642"/>
            <a:ext cx="8825659" cy="3416300"/>
          </a:xfrm>
        </p:spPr>
        <p:txBody>
          <a:bodyPr>
            <a:normAutofit fontScale="85000" lnSpcReduction="20000"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The PROC directive permits you to declare a procedure with a comma-separated list of named parameters. Your implementation code can refer to the parameters by name rather than by calculated stack offsets such as [</a:t>
            </a:r>
            <a:r>
              <a:rPr lang="en-GB" dirty="0" err="1"/>
              <a:t>ebp</a:t>
            </a:r>
            <a:r>
              <a:rPr lang="en-GB" dirty="0"/>
              <a:t> + 8]:</a:t>
            </a:r>
          </a:p>
          <a:p>
            <a:r>
              <a:rPr lang="en-GB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 can be one of the following: BYTE, SBYTE, WORD, SWORD, DWORD, SDWORD, FWORD, QWORD, or TBYTE</a:t>
            </a:r>
            <a:r>
              <a:rPr lang="en-GB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 E.g. </a:t>
            </a:r>
            <a:r>
              <a:rPr lang="en-GB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MySub</a:t>
            </a:r>
            <a:r>
              <a:rPr lang="en-GB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PROC param1:DWORD</a:t>
            </a:r>
            <a:endParaRPr lang="en-GB" sz="18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/>
              <a:t>Qualified types: PTR BYTE, PTR SBYTE, PTR WORD, </a:t>
            </a:r>
            <a:r>
              <a:rPr lang="en-GB" dirty="0" err="1"/>
              <a:t>etc</a:t>
            </a:r>
            <a:r>
              <a:rPr lang="en-GB"/>
              <a:t>  </a:t>
            </a:r>
            <a:r>
              <a:rPr lang="en-GB" dirty="0"/>
              <a:t>E.g. </a:t>
            </a:r>
            <a:r>
              <a:rPr lang="en-GB" dirty="0" err="1"/>
              <a:t>MySub</a:t>
            </a:r>
            <a:r>
              <a:rPr lang="en-GB" dirty="0"/>
              <a:t> PROC </a:t>
            </a:r>
            <a:r>
              <a:rPr lang="en-GB" dirty="0" err="1"/>
              <a:t>pArray:PTR</a:t>
            </a:r>
            <a:r>
              <a:rPr lang="en-GB" dirty="0"/>
              <a:t> DWORD</a:t>
            </a:r>
            <a:endParaRPr dirty="0"/>
          </a:p>
          <a:p>
            <a:r>
              <a:rPr dirty="0"/>
              <a:t>Parameters are local to the procedure.</a:t>
            </a:r>
            <a:endParaRPr lang="en-GB" dirty="0"/>
          </a:p>
          <a:p>
            <a:r>
              <a:rPr lang="en-GB" dirty="0"/>
              <a:t>Names replace manual EBP offset calculations</a:t>
            </a:r>
            <a:r>
              <a:rPr dirty="0"/>
              <a:t>.</a:t>
            </a:r>
          </a:p>
          <a:p>
            <a:r>
              <a:rPr dirty="0"/>
              <a:t>Improves maintainability and readability.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137693-A647-AE68-F57B-D1D4E6585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547" y="2326105"/>
            <a:ext cx="5637829" cy="22057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 Example: AddTwo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Example: </a:t>
            </a:r>
          </a:p>
          <a:p>
            <a:pPr marL="0" indent="0">
              <a:buNone/>
            </a:pPr>
            <a:r>
              <a:rPr lang="en-GB" dirty="0" err="1"/>
              <a:t>AddTwo</a:t>
            </a:r>
            <a:r>
              <a:rPr lang="en-GB" dirty="0"/>
              <a:t> PROC,</a:t>
            </a:r>
          </a:p>
          <a:p>
            <a:pPr marL="0" indent="0">
              <a:buNone/>
            </a:pPr>
            <a:r>
              <a:rPr lang="en-GB" dirty="0"/>
              <a:t>val1:DWORD,
val2:DWORD</a:t>
            </a:r>
          </a:p>
          <a:p>
            <a:pPr marL="0" indent="0">
              <a:buNone/>
            </a:pPr>
            <a:r>
              <a:rPr lang="en-GB" dirty="0" err="1"/>
              <a:t>mov</a:t>
            </a:r>
            <a:r>
              <a:rPr lang="en-GB" dirty="0"/>
              <a:t> eax,val1
add eax,val2</a:t>
            </a:r>
          </a:p>
          <a:p>
            <a:pPr marL="0" indent="0">
              <a:buNone/>
            </a:pPr>
            <a:r>
              <a:rPr lang="en-GB" dirty="0"/>
              <a:t>Ret</a:t>
            </a:r>
          </a:p>
          <a:p>
            <a:pPr marL="0" indent="0">
              <a:buNone/>
            </a:pPr>
            <a:r>
              <a:rPr lang="en-GB" dirty="0"/>
              <a:t>Add Two ENDP</a:t>
            </a:r>
            <a:endParaRPr dirty="0"/>
          </a:p>
          <a:p>
            <a:r>
              <a:rPr dirty="0"/>
              <a:t>Parameters are accessed by name.</a:t>
            </a:r>
          </a:p>
          <a:p>
            <a:r>
              <a:rPr dirty="0"/>
              <a:t>EAX stores the return value.</a:t>
            </a:r>
          </a:p>
          <a:p>
            <a:r>
              <a:rPr dirty="0"/>
              <a:t>MASM generates stack setup and cleanup.</a:t>
            </a:r>
          </a:p>
          <a:p>
            <a:r>
              <a:rPr dirty="0"/>
              <a:t>RET instruction cleans parameters automatically.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USES Clause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USES specifies registers to preserve.</a:t>
            </a:r>
            <a:endParaRPr lang="en-GB" dirty="0"/>
          </a:p>
          <a:p>
            <a:r>
              <a:rPr lang="en-GB" dirty="0"/>
              <a:t>The MASM-generated code for </a:t>
            </a:r>
            <a:r>
              <a:rPr lang="en-GB" dirty="0" err="1"/>
              <a:t>Read_File</a:t>
            </a:r>
            <a:r>
              <a:rPr lang="en-GB" dirty="0"/>
              <a:t> shows how space is reserved on the stack for the local variable (</a:t>
            </a:r>
            <a:r>
              <a:rPr lang="en-GB" dirty="0" err="1"/>
              <a:t>fileHandle</a:t>
            </a:r>
            <a:r>
              <a:rPr lang="en-GB" dirty="0"/>
              <a:t>) before pushing EAX and EBX (specified in the USES clause):</a:t>
            </a:r>
          </a:p>
          <a:p>
            <a:pPr marL="0" indent="0">
              <a:buNone/>
            </a:pPr>
            <a:r>
              <a:rPr lang="en-GB" dirty="0" err="1"/>
              <a:t>Read_File</a:t>
            </a:r>
            <a:r>
              <a:rPr lang="en-GB" dirty="0"/>
              <a:t> PROC USES </a:t>
            </a:r>
            <a:r>
              <a:rPr lang="en-GB" dirty="0" err="1"/>
              <a:t>eax</a:t>
            </a:r>
            <a:r>
              <a:rPr lang="en-GB" dirty="0"/>
              <a:t> </a:t>
            </a:r>
            <a:r>
              <a:rPr lang="en-GB" dirty="0" err="1"/>
              <a:t>ebx</a:t>
            </a:r>
            <a:r>
              <a:rPr lang="en-GB" dirty="0"/>
              <a:t>
    LOCAL </a:t>
            </a:r>
            <a:r>
              <a:rPr lang="en-GB" dirty="0" err="1"/>
              <a:t>fileHandle:DWORD</a:t>
            </a:r>
            <a:r>
              <a:rPr lang="en-GB" dirty="0"/>
              <a:t>
    ; ... Procedure body ...
    Ret
</a:t>
            </a:r>
            <a:r>
              <a:rPr lang="en-GB" dirty="0" err="1"/>
              <a:t>Read_File</a:t>
            </a:r>
            <a:r>
              <a:rPr lang="en-GB"/>
              <a:t> ENDP</a:t>
            </a:r>
            <a:endParaRPr lang="en-GB" dirty="0"/>
          </a:p>
          <a:p>
            <a:r>
              <a:rPr dirty="0"/>
              <a:t>Registers are pushed automatically.</a:t>
            </a:r>
          </a:p>
          <a:p>
            <a:r>
              <a:rPr dirty="0"/>
              <a:t>They are restored before procedure return.</a:t>
            </a:r>
          </a:p>
          <a:p>
            <a:r>
              <a:rPr dirty="0"/>
              <a:t>Reduces programmer errors.</a:t>
            </a:r>
          </a:p>
          <a:p>
            <a:r>
              <a:rPr dirty="0"/>
              <a:t>Improves procedure reliability.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PROTO Directive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In 64-bit mode, we use the PROTO directive to identify a procedure that is external to the program.</a:t>
            </a:r>
          </a:p>
          <a:p>
            <a:r>
              <a:rPr lang="en-GB" dirty="0"/>
              <a:t>In 32-bit mode, however, PROTO is more powerful because it can include a list of Procedure parameters. The PROTO directive creates a prototype for an existing procedure. </a:t>
            </a:r>
          </a:p>
          <a:p>
            <a:r>
              <a:rPr lang="en-GB" dirty="0"/>
              <a:t> A prototype declares a procedure’s name and parameter list. It allows us to call a procedure before defining it and to verify that the number and types of arguments match the procedure Definition.</a:t>
            </a:r>
            <a:endParaRPr dirty="0"/>
          </a:p>
          <a:p>
            <a:r>
              <a:rPr dirty="0"/>
              <a:t>Required when using INVOKE.</a:t>
            </a:r>
          </a:p>
          <a:p>
            <a:r>
              <a:rPr dirty="0"/>
              <a:t>Specifies parameter list and types.</a:t>
            </a:r>
            <a:endParaRPr lang="en-GB" dirty="0"/>
          </a:p>
          <a:p>
            <a:r>
              <a:rPr lang="en-GB" dirty="0"/>
              <a:t>MASM requires a prototype for each procedure called by INVOKE. PROTO must appear</a:t>
            </a:r>
          </a:p>
          <a:p>
            <a:pPr marL="0" indent="0">
              <a:buNone/>
            </a:pPr>
            <a:r>
              <a:rPr lang="en-GB" dirty="0"/>
              <a:t>First before INVOKE.</a:t>
            </a:r>
            <a:endParaRPr dirty="0"/>
          </a:p>
          <a:p>
            <a:r>
              <a:rPr dirty="0"/>
              <a:t>Improves modular programming.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2CAC1-FF79-88D3-5C51-9B032CFFD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PROTO Directive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D05EA-23C8-5B48-B03C-3D59FAEA9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Standard Ordering of Directives: </a:t>
            </a:r>
            <a:r>
              <a:rPr lang="en-GB" dirty="0" err="1"/>
              <a:t>MySub</a:t>
            </a:r>
            <a:r>
              <a:rPr lang="en-GB" dirty="0"/>
              <a:t> PROTO ; procedure prototype</a:t>
            </a:r>
          </a:p>
          <a:p>
            <a:pPr marL="0" indent="0">
              <a:buNone/>
            </a:pPr>
            <a:r>
              <a:rPr lang="en-GB" dirty="0"/>
              <a:t>INVOKE </a:t>
            </a:r>
            <a:r>
              <a:rPr lang="en-GB" dirty="0" err="1"/>
              <a:t>MySub</a:t>
            </a:r>
            <a:r>
              <a:rPr lang="en-GB" dirty="0"/>
              <a:t> ; procedure call
</a:t>
            </a:r>
            <a:r>
              <a:rPr lang="en-GB" dirty="0" err="1"/>
              <a:t>MySub</a:t>
            </a:r>
            <a:r>
              <a:rPr lang="en-GB" dirty="0"/>
              <a:t> PROC ; procedure implementation 
</a:t>
            </a:r>
            <a:r>
              <a:rPr lang="en-GB" dirty="0" err="1"/>
              <a:t>MySub</a:t>
            </a:r>
            <a:r>
              <a:rPr lang="en-GB" dirty="0"/>
              <a:t> ENDP</a:t>
            </a:r>
          </a:p>
          <a:p>
            <a:r>
              <a:rPr lang="en-GB" dirty="0"/>
              <a:t>Example: </a:t>
            </a:r>
            <a:r>
              <a:rPr lang="en-GB" dirty="0" err="1"/>
              <a:t>ArraySum</a:t>
            </a:r>
            <a:r>
              <a:rPr lang="en-GB" dirty="0"/>
              <a:t> PROTO,</a:t>
            </a:r>
          </a:p>
          <a:p>
            <a:pPr marL="0" indent="0">
              <a:buNone/>
            </a:pPr>
            <a:r>
              <a:rPr lang="en-GB" dirty="0" err="1"/>
              <a:t>ptrArray:PTR</a:t>
            </a:r>
            <a:r>
              <a:rPr lang="en-GB" dirty="0"/>
              <a:t> DWORD, ; points to the array</a:t>
            </a:r>
          </a:p>
          <a:p>
            <a:pPr marL="0" indent="0">
              <a:buNone/>
            </a:pPr>
            <a:r>
              <a:rPr lang="en-GB" dirty="0"/>
              <a:t>szArray:DWORD ; array size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018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Assembly-Time Argument Checking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PROTO directive helps the assembler compare a list of arguments in a procedure call to the procedure’s definition. The error checking is not as precise as in languages like C and C++. </a:t>
            </a:r>
          </a:p>
          <a:p>
            <a:r>
              <a:rPr lang="en-GB" dirty="0"/>
              <a:t>MASM checks for the correct number of parameters, and to a limited extent, matches argument types to parameter types. </a:t>
            </a:r>
            <a:endParaRPr dirty="0"/>
          </a:p>
          <a:p>
            <a:r>
              <a:rPr dirty="0"/>
              <a:t>Detects too few or too many parameters.</a:t>
            </a:r>
          </a:p>
          <a:p>
            <a:r>
              <a:rPr dirty="0"/>
              <a:t>Performs limited type checking.</a:t>
            </a:r>
          </a:p>
          <a:p>
            <a:r>
              <a:rPr dirty="0"/>
              <a:t>Some mismatches are not detected.</a:t>
            </a:r>
          </a:p>
          <a:p>
            <a:r>
              <a:rPr dirty="0"/>
              <a:t>Helps catch errors early.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INVOKE simplifies procedure calls.</a:t>
            </a:r>
          </a:p>
          <a:p>
            <a:r>
              <a:t>ADDR improves pointer passing.</a:t>
            </a:r>
          </a:p>
          <a:p>
            <a:r>
              <a:t>PROC structures procedure definitions.</a:t>
            </a:r>
          </a:p>
          <a:p>
            <a:r>
              <a:t>PROTO enables safer procedure calls.</a:t>
            </a:r>
          </a:p>
          <a:p>
            <a:r>
              <a:t>Advanced directives improve program quality.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TF10001029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029" id="{ED3996BA-162B-43C7-B0E2-A5CA4E649741}" vid="{187088E4-27D7-4455-856F-4A44258D82E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TF10001029</vt:lpstr>
      <vt:lpstr>Assembly Language Programming Group Presentation </vt:lpstr>
      <vt:lpstr>Advanced MASM Procedure Directives</vt:lpstr>
      <vt:lpstr>Motivation for Using These Directives</vt:lpstr>
      <vt:lpstr>The INVOKE Directive</vt:lpstr>
      <vt:lpstr>INVOKE Syntax and Rules</vt:lpstr>
      <vt:lpstr>INVOKE Example</vt:lpstr>
      <vt:lpstr>The ADDR Operator</vt:lpstr>
      <vt:lpstr>ADDR Example</vt:lpstr>
      <vt:lpstr>The PROC Directive</vt:lpstr>
      <vt:lpstr>PROC Parameter Lists</vt:lpstr>
      <vt:lpstr>PROC Example: AddTwo</vt:lpstr>
      <vt:lpstr>The USES Clause</vt:lpstr>
      <vt:lpstr>The PROTO Directive</vt:lpstr>
      <vt:lpstr>The PROTO Directive</vt:lpstr>
      <vt:lpstr>Assembly-Time Argument Checking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MASM Procedure Directives</dc:title>
  <dc:subject/>
  <dc:creator/>
  <cp:keywords/>
  <dc:description>generated using python-pptx</dc:description>
  <cp:lastModifiedBy>redieatf@gmail.com</cp:lastModifiedBy>
  <cp:revision>7</cp:revision>
  <dcterms:created xsi:type="dcterms:W3CDTF">2013-01-27T09:14:16Z</dcterms:created>
  <dcterms:modified xsi:type="dcterms:W3CDTF">2025-12-24T08:29:48Z</dcterms:modified>
  <cp:category/>
</cp:coreProperties>
</file>